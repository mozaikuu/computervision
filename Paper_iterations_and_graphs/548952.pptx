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9550400"/>
  <p:notesSz cx="6858000" cy="9144000"/>
  <p:embeddedFontLst>
    <p:embeddedFont>
      <p:font typeface="IBM Plex Sans Medium" charset="1" panose="020B0603050203000203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Arimo Bold" charset="1" panose="020B0704020202020204"/>
      <p:regular r:id="rId20"/>
    </p:embeddedFont>
    <p:embeddedFont>
      <p:font typeface="Canva Sans Bold" charset="1" panose="020B0803030501040103"/>
      <p:regular r:id="rId21"/>
    </p:embeddedFont>
    <p:embeddedFont>
      <p:font typeface="IBM Plex Sans" charset="1" panose="020B0503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jpeg" Type="http://schemas.openxmlformats.org/officeDocument/2006/relationships/image"/><Relationship Id="rId4" Target="mailto:ahmed.moussa@newmansoura.edu.e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55652"/>
            <a:ext cx="4286250" cy="6438900"/>
          </a:xfrm>
          <a:custGeom>
            <a:avLst/>
            <a:gdLst/>
            <a:ahLst/>
            <a:cxnLst/>
            <a:rect r="r" b="b" t="t" l="l"/>
            <a:pathLst>
              <a:path h="6438900" w="4286250">
                <a:moveTo>
                  <a:pt x="0" y="0"/>
                </a:moveTo>
                <a:lnTo>
                  <a:pt x="4286250" y="0"/>
                </a:lnTo>
                <a:lnTo>
                  <a:pt x="428625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" r="0" b="-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92295" y="1555652"/>
            <a:ext cx="6378545" cy="6439157"/>
          </a:xfrm>
          <a:custGeom>
            <a:avLst/>
            <a:gdLst/>
            <a:ahLst/>
            <a:cxnLst/>
            <a:rect r="r" b="b" t="t" l="l"/>
            <a:pathLst>
              <a:path h="6439157" w="6378545">
                <a:moveTo>
                  <a:pt x="0" y="0"/>
                </a:moveTo>
                <a:lnTo>
                  <a:pt x="6378545" y="0"/>
                </a:lnTo>
                <a:lnTo>
                  <a:pt x="6378545" y="6439157"/>
                </a:lnTo>
                <a:lnTo>
                  <a:pt x="0" y="6439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59" t="0" r="-2114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86325" y="3420361"/>
            <a:ext cx="5628551" cy="160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Pneumonia Detection Using Optimized Deep Learning Technique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77567" y="5161331"/>
            <a:ext cx="43548" cy="37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86325" y="5275631"/>
            <a:ext cx="4082453" cy="25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Ahmed M.Moussa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Sandy S.Samir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Fatma M.Talaat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6335" y="5542331"/>
            <a:ext cx="3993661" cy="78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New Mansoura University . Computer Science and Engineering </a:t>
            </a:r>
          </a:p>
          <a:p>
            <a:pPr algn="l">
              <a:lnSpc>
                <a:spcPts val="2150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IC-FTAI 2025 | Alexandria, Egypt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886325" y="3412769"/>
            <a:ext cx="2886075" cy="2085975"/>
            <a:chOff x="0" y="0"/>
            <a:chExt cx="2886075" cy="2085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6075" cy="2085975"/>
            </a:xfrm>
            <a:custGeom>
              <a:avLst/>
              <a:gdLst/>
              <a:ahLst/>
              <a:cxnLst/>
              <a:rect r="r" b="b" t="t" l="l"/>
              <a:pathLst>
                <a:path h="2085975" w="2886075">
                  <a:moveTo>
                    <a:pt x="0" y="20645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350"/>
                  </a:cubicBezTo>
                  <a:cubicBezTo>
                    <a:pt x="2881884" y="8382"/>
                    <a:pt x="2883408" y="10668"/>
                    <a:pt x="2884424" y="13335"/>
                  </a:cubicBezTo>
                  <a:cubicBezTo>
                    <a:pt x="2885440" y="16002"/>
                    <a:pt x="2886075" y="18669"/>
                    <a:pt x="2886075" y="21590"/>
                  </a:cubicBezTo>
                  <a:lnTo>
                    <a:pt x="2886075" y="2064512"/>
                  </a:lnTo>
                  <a:cubicBezTo>
                    <a:pt x="2886075" y="2067306"/>
                    <a:pt x="2885567" y="2070100"/>
                    <a:pt x="2884424" y="2072640"/>
                  </a:cubicBezTo>
                  <a:cubicBezTo>
                    <a:pt x="2883281" y="2075180"/>
                    <a:pt x="2881757" y="2077593"/>
                    <a:pt x="2879852" y="2079625"/>
                  </a:cubicBezTo>
                  <a:cubicBezTo>
                    <a:pt x="2877947" y="2081657"/>
                    <a:pt x="2875534" y="2083181"/>
                    <a:pt x="2872867" y="2084324"/>
                  </a:cubicBezTo>
                  <a:cubicBezTo>
                    <a:pt x="2870200" y="2085467"/>
                    <a:pt x="2867533" y="2085975"/>
                    <a:pt x="2864612" y="2085975"/>
                  </a:cubicBezTo>
                  <a:lnTo>
                    <a:pt x="21463" y="2085975"/>
                  </a:lnTo>
                  <a:cubicBezTo>
                    <a:pt x="18669" y="2085975"/>
                    <a:pt x="15875" y="2085467"/>
                    <a:pt x="13208" y="2084324"/>
                  </a:cubicBezTo>
                  <a:cubicBezTo>
                    <a:pt x="10541" y="2083181"/>
                    <a:pt x="8255" y="2081657"/>
                    <a:pt x="6223" y="2079625"/>
                  </a:cubicBezTo>
                  <a:cubicBezTo>
                    <a:pt x="4191" y="2077593"/>
                    <a:pt x="2667" y="2075307"/>
                    <a:pt x="1651" y="2072640"/>
                  </a:cubicBezTo>
                  <a:cubicBezTo>
                    <a:pt x="635" y="2069973"/>
                    <a:pt x="0" y="2067306"/>
                    <a:pt x="0" y="2064512"/>
                  </a:cubicBezTo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886325" y="5670194"/>
            <a:ext cx="5943600" cy="1257300"/>
            <a:chOff x="0" y="0"/>
            <a:chExt cx="5943600" cy="125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3727" cy="1257427"/>
            </a:xfrm>
            <a:custGeom>
              <a:avLst/>
              <a:gdLst/>
              <a:ahLst/>
              <a:cxnLst/>
              <a:rect r="r" b="b" t="t" l="l"/>
              <a:pathLst>
                <a:path h="1257427" w="59437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8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1235837"/>
                  </a:lnTo>
                  <a:cubicBezTo>
                    <a:pt x="5943727" y="1238631"/>
                    <a:pt x="5943219" y="1241425"/>
                    <a:pt x="5942076" y="1244092"/>
                  </a:cubicBezTo>
                  <a:cubicBezTo>
                    <a:pt x="5940933" y="1246759"/>
                    <a:pt x="5939409" y="1249045"/>
                    <a:pt x="5937377" y="1251077"/>
                  </a:cubicBezTo>
                  <a:cubicBezTo>
                    <a:pt x="5935345" y="1253109"/>
                    <a:pt x="5933059" y="1254633"/>
                    <a:pt x="5930392" y="1255776"/>
                  </a:cubicBezTo>
                  <a:cubicBezTo>
                    <a:pt x="5927725" y="1256919"/>
                    <a:pt x="5925058" y="1257427"/>
                    <a:pt x="592213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651" y="1244092"/>
                  </a:cubicBezTo>
                  <a:cubicBezTo>
                    <a:pt x="635" y="1241425"/>
                    <a:pt x="0" y="1238758"/>
                    <a:pt x="0" y="1235837"/>
                  </a:cubicBezTo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43850" y="3412769"/>
            <a:ext cx="2886075" cy="2085975"/>
            <a:chOff x="0" y="0"/>
            <a:chExt cx="2886075" cy="2085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6202" cy="2085975"/>
            </a:xfrm>
            <a:custGeom>
              <a:avLst/>
              <a:gdLst/>
              <a:ahLst/>
              <a:cxnLst/>
              <a:rect r="r" b="b" t="t" l="l"/>
              <a:pathLst>
                <a:path h="2085975" w="2886202">
                  <a:moveTo>
                    <a:pt x="0" y="20645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350"/>
                  </a:cubicBezTo>
                  <a:cubicBezTo>
                    <a:pt x="2881884" y="8382"/>
                    <a:pt x="2883408" y="10668"/>
                    <a:pt x="2884551" y="13335"/>
                  </a:cubicBezTo>
                  <a:cubicBezTo>
                    <a:pt x="2885694" y="16002"/>
                    <a:pt x="2886202" y="18669"/>
                    <a:pt x="2886202" y="21590"/>
                  </a:cubicBezTo>
                  <a:lnTo>
                    <a:pt x="2886202" y="2064512"/>
                  </a:lnTo>
                  <a:cubicBezTo>
                    <a:pt x="2886202" y="2067306"/>
                    <a:pt x="2885694" y="2070100"/>
                    <a:pt x="2884551" y="2072640"/>
                  </a:cubicBezTo>
                  <a:cubicBezTo>
                    <a:pt x="2883408" y="2075180"/>
                    <a:pt x="2881884" y="2077593"/>
                    <a:pt x="2879852" y="2079625"/>
                  </a:cubicBezTo>
                  <a:cubicBezTo>
                    <a:pt x="2877820" y="2081657"/>
                    <a:pt x="2875534" y="2083181"/>
                    <a:pt x="2872867" y="2084324"/>
                  </a:cubicBezTo>
                  <a:cubicBezTo>
                    <a:pt x="2870200" y="2085467"/>
                    <a:pt x="2867533" y="2085975"/>
                    <a:pt x="2864612" y="2085975"/>
                  </a:cubicBezTo>
                  <a:lnTo>
                    <a:pt x="21463" y="2085975"/>
                  </a:lnTo>
                  <a:cubicBezTo>
                    <a:pt x="18669" y="2085975"/>
                    <a:pt x="15875" y="2085467"/>
                    <a:pt x="13208" y="2084324"/>
                  </a:cubicBezTo>
                  <a:cubicBezTo>
                    <a:pt x="10541" y="2083181"/>
                    <a:pt x="8255" y="2081657"/>
                    <a:pt x="6223" y="2079625"/>
                  </a:cubicBezTo>
                  <a:cubicBezTo>
                    <a:pt x="4191" y="2077593"/>
                    <a:pt x="2667" y="2075307"/>
                    <a:pt x="1651" y="2072640"/>
                  </a:cubicBezTo>
                  <a:cubicBezTo>
                    <a:pt x="635" y="2069973"/>
                    <a:pt x="0" y="2067306"/>
                    <a:pt x="0" y="2064512"/>
                  </a:cubicBezTo>
                </a:path>
              </a:pathLst>
            </a:custGeom>
            <a:solidFill>
              <a:srgbClr val="484B5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69721" y="1555394"/>
            <a:ext cx="6542760" cy="6439205"/>
          </a:xfrm>
          <a:custGeom>
            <a:avLst/>
            <a:gdLst/>
            <a:ahLst/>
            <a:cxnLst/>
            <a:rect r="r" b="b" t="t" l="l"/>
            <a:pathLst>
              <a:path h="6439205" w="6542760">
                <a:moveTo>
                  <a:pt x="0" y="0"/>
                </a:moveTo>
                <a:lnTo>
                  <a:pt x="6542760" y="0"/>
                </a:lnTo>
                <a:lnTo>
                  <a:pt x="6542760" y="6439205"/>
                </a:lnTo>
                <a:lnTo>
                  <a:pt x="0" y="6439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93" t="0" r="-1532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86325" y="2553586"/>
            <a:ext cx="3854768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Research 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7775" y="3549920"/>
            <a:ext cx="2617070" cy="160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Goal</a:t>
            </a:r>
          </a:p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Make 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pneumonia detection More Reliable in real-world application using Genetic Algorithm-optimized 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VGG16 convolutional neural 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networks.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57775" y="5740670"/>
            <a:ext cx="723776" cy="35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1954" y="6123356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15300" y="3483245"/>
            <a:ext cx="994410" cy="35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Challenge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91264" y="3865931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5300" y="3932606"/>
            <a:ext cx="2277027" cy="25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Overcome overfitting in deep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15300" y="4208831"/>
            <a:ext cx="2336378" cy="7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learning models and optimize weights for clinical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deployment.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57775" y="6190031"/>
            <a:ext cx="5690359" cy="25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Enable rapid, accurate pneumonia diagnosis to support early intervention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57775" y="6466256"/>
            <a:ext cx="4847072" cy="26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and reduce diagnostic delays in resource-constrained settings.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62732" y="6171706"/>
            <a:ext cx="229687" cy="196850"/>
            <a:chOff x="0" y="0"/>
            <a:chExt cx="257175" cy="220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889"/>
              <a:ext cx="258064" cy="221996"/>
            </a:xfrm>
            <a:custGeom>
              <a:avLst/>
              <a:gdLst/>
              <a:ahLst/>
              <a:cxnLst/>
              <a:rect r="r" b="b" t="t" l="l"/>
              <a:pathLst>
                <a:path h="221996" w="258064">
                  <a:moveTo>
                    <a:pt x="254508" y="117602"/>
                  </a:moveTo>
                  <a:cubicBezTo>
                    <a:pt x="258064" y="114046"/>
                    <a:pt x="258064" y="108204"/>
                    <a:pt x="254508" y="104648"/>
                  </a:cubicBezTo>
                  <a:lnTo>
                    <a:pt x="153416" y="3556"/>
                  </a:lnTo>
                  <a:cubicBezTo>
                    <a:pt x="149860" y="0"/>
                    <a:pt x="144018" y="0"/>
                    <a:pt x="140462" y="3556"/>
                  </a:cubicBezTo>
                  <a:cubicBezTo>
                    <a:pt x="136906" y="7112"/>
                    <a:pt x="136906" y="12954"/>
                    <a:pt x="140462" y="16510"/>
                  </a:cubicBezTo>
                  <a:lnTo>
                    <a:pt x="225806" y="101854"/>
                  </a:lnTo>
                  <a:lnTo>
                    <a:pt x="9144" y="101854"/>
                  </a:lnTo>
                  <a:cubicBezTo>
                    <a:pt x="4064" y="101854"/>
                    <a:pt x="0" y="106045"/>
                    <a:pt x="0" y="110998"/>
                  </a:cubicBezTo>
                  <a:cubicBezTo>
                    <a:pt x="0" y="115951"/>
                    <a:pt x="4191" y="120142"/>
                    <a:pt x="9144" y="120142"/>
                  </a:cubicBezTo>
                  <a:lnTo>
                    <a:pt x="225806" y="120142"/>
                  </a:lnTo>
                  <a:lnTo>
                    <a:pt x="140462" y="205486"/>
                  </a:lnTo>
                  <a:cubicBezTo>
                    <a:pt x="136906" y="209042"/>
                    <a:pt x="136906" y="214884"/>
                    <a:pt x="140462" y="218440"/>
                  </a:cubicBezTo>
                  <a:cubicBezTo>
                    <a:pt x="144018" y="221996"/>
                    <a:pt x="149860" y="221996"/>
                    <a:pt x="153416" y="218440"/>
                  </a:cubicBezTo>
                  <a:lnTo>
                    <a:pt x="254508" y="117348"/>
                  </a:ln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967761" y="6171706"/>
            <a:ext cx="229687" cy="196850"/>
            <a:chOff x="0" y="0"/>
            <a:chExt cx="257175" cy="2204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889"/>
              <a:ext cx="258064" cy="221996"/>
            </a:xfrm>
            <a:custGeom>
              <a:avLst/>
              <a:gdLst/>
              <a:ahLst/>
              <a:cxnLst/>
              <a:rect r="r" b="b" t="t" l="l"/>
              <a:pathLst>
                <a:path h="221996" w="258064">
                  <a:moveTo>
                    <a:pt x="254508" y="117602"/>
                  </a:moveTo>
                  <a:cubicBezTo>
                    <a:pt x="258064" y="114046"/>
                    <a:pt x="258064" y="108204"/>
                    <a:pt x="254508" y="104648"/>
                  </a:cubicBezTo>
                  <a:lnTo>
                    <a:pt x="153416" y="3556"/>
                  </a:lnTo>
                  <a:cubicBezTo>
                    <a:pt x="149860" y="0"/>
                    <a:pt x="144018" y="0"/>
                    <a:pt x="140462" y="3556"/>
                  </a:cubicBezTo>
                  <a:cubicBezTo>
                    <a:pt x="136906" y="7112"/>
                    <a:pt x="136906" y="12954"/>
                    <a:pt x="140462" y="16510"/>
                  </a:cubicBezTo>
                  <a:lnTo>
                    <a:pt x="225806" y="101854"/>
                  </a:lnTo>
                  <a:lnTo>
                    <a:pt x="9144" y="101854"/>
                  </a:lnTo>
                  <a:cubicBezTo>
                    <a:pt x="4064" y="101854"/>
                    <a:pt x="0" y="106045"/>
                    <a:pt x="0" y="110998"/>
                  </a:cubicBezTo>
                  <a:cubicBezTo>
                    <a:pt x="0" y="115951"/>
                    <a:pt x="4191" y="120142"/>
                    <a:pt x="9144" y="120142"/>
                  </a:cubicBezTo>
                  <a:lnTo>
                    <a:pt x="225806" y="120142"/>
                  </a:lnTo>
                  <a:lnTo>
                    <a:pt x="140462" y="205486"/>
                  </a:lnTo>
                  <a:cubicBezTo>
                    <a:pt x="136906" y="209042"/>
                    <a:pt x="136906" y="214884"/>
                    <a:pt x="140462" y="218440"/>
                  </a:cubicBezTo>
                  <a:cubicBezTo>
                    <a:pt x="144018" y="221996"/>
                    <a:pt x="149860" y="221996"/>
                    <a:pt x="153416" y="218440"/>
                  </a:cubicBezTo>
                  <a:lnTo>
                    <a:pt x="254508" y="117348"/>
                  </a:ln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2827" y="5894916"/>
            <a:ext cx="11430000" cy="182204"/>
            <a:chOff x="0" y="0"/>
            <a:chExt cx="10356850" cy="165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0229850" cy="38100"/>
            </a:xfrm>
            <a:custGeom>
              <a:avLst/>
              <a:gdLst/>
              <a:ahLst/>
              <a:cxnLst/>
              <a:rect r="r" b="b" t="t" l="l"/>
              <a:pathLst>
                <a:path h="38100" w="10229850">
                  <a:moveTo>
                    <a:pt x="0" y="38100"/>
                  </a:moveTo>
                  <a:lnTo>
                    <a:pt x="10229850" y="38100"/>
                  </a:lnTo>
                  <a:lnTo>
                    <a:pt x="10229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D4D1">
                <a:alpha val="2509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92075"/>
              <a:ext cx="10229850" cy="9525"/>
            </a:xfrm>
            <a:custGeom>
              <a:avLst/>
              <a:gdLst/>
              <a:ahLst/>
              <a:cxnLst/>
              <a:rect r="r" b="b" t="t" l="l"/>
              <a:pathLst>
                <a:path h="9525" w="10229850">
                  <a:moveTo>
                    <a:pt x="0" y="9525"/>
                  </a:moveTo>
                  <a:lnTo>
                    <a:pt x="10229850" y="9525"/>
                  </a:lnTo>
                  <a:lnTo>
                    <a:pt x="10229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081297" y="6171706"/>
            <a:ext cx="229687" cy="196850"/>
            <a:chOff x="0" y="0"/>
            <a:chExt cx="257175" cy="2204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889"/>
              <a:ext cx="258064" cy="221996"/>
            </a:xfrm>
            <a:custGeom>
              <a:avLst/>
              <a:gdLst/>
              <a:ahLst/>
              <a:cxnLst/>
              <a:rect r="r" b="b" t="t" l="l"/>
              <a:pathLst>
                <a:path h="221996" w="258064">
                  <a:moveTo>
                    <a:pt x="254508" y="117602"/>
                  </a:moveTo>
                  <a:cubicBezTo>
                    <a:pt x="258064" y="114046"/>
                    <a:pt x="258064" y="108204"/>
                    <a:pt x="254508" y="104648"/>
                  </a:cubicBezTo>
                  <a:lnTo>
                    <a:pt x="153416" y="3556"/>
                  </a:lnTo>
                  <a:cubicBezTo>
                    <a:pt x="149860" y="0"/>
                    <a:pt x="144018" y="0"/>
                    <a:pt x="140462" y="3556"/>
                  </a:cubicBezTo>
                  <a:cubicBezTo>
                    <a:pt x="136906" y="7112"/>
                    <a:pt x="136906" y="12954"/>
                    <a:pt x="140462" y="16510"/>
                  </a:cubicBezTo>
                  <a:lnTo>
                    <a:pt x="225806" y="101854"/>
                  </a:lnTo>
                  <a:lnTo>
                    <a:pt x="9144" y="101854"/>
                  </a:lnTo>
                  <a:cubicBezTo>
                    <a:pt x="4064" y="101854"/>
                    <a:pt x="0" y="106045"/>
                    <a:pt x="0" y="110998"/>
                  </a:cubicBezTo>
                  <a:cubicBezTo>
                    <a:pt x="0" y="115951"/>
                    <a:pt x="4191" y="120142"/>
                    <a:pt x="9144" y="120142"/>
                  </a:cubicBezTo>
                  <a:lnTo>
                    <a:pt x="225806" y="120142"/>
                  </a:lnTo>
                  <a:lnTo>
                    <a:pt x="140462" y="205486"/>
                  </a:lnTo>
                  <a:cubicBezTo>
                    <a:pt x="136906" y="209042"/>
                    <a:pt x="136906" y="214884"/>
                    <a:pt x="140462" y="218440"/>
                  </a:cubicBezTo>
                  <a:cubicBezTo>
                    <a:pt x="144018" y="221996"/>
                    <a:pt x="149860" y="221996"/>
                    <a:pt x="153416" y="218440"/>
                  </a:cubicBezTo>
                  <a:lnTo>
                    <a:pt x="254508" y="117348"/>
                  </a:lnTo>
                </a:path>
              </a:pathLst>
            </a:custGeom>
            <a:solidFill>
              <a:srgbClr val="D4D4D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839186" y="2764123"/>
            <a:ext cx="3788709" cy="3064119"/>
          </a:xfrm>
          <a:custGeom>
            <a:avLst/>
            <a:gdLst/>
            <a:ahLst/>
            <a:cxnLst/>
            <a:rect r="r" b="b" t="t" l="l"/>
            <a:pathLst>
              <a:path h="3064119" w="3788709">
                <a:moveTo>
                  <a:pt x="0" y="0"/>
                </a:moveTo>
                <a:lnTo>
                  <a:pt x="3788709" y="0"/>
                </a:lnTo>
                <a:lnTo>
                  <a:pt x="3788709" y="3064118"/>
                </a:lnTo>
                <a:lnTo>
                  <a:pt x="0" y="306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1808" y="2256465"/>
            <a:ext cx="3733243" cy="41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b="true" sz="305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The Clinical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9914" y="2622468"/>
            <a:ext cx="46728" cy="42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1"/>
              </a:lnSpc>
            </a:pPr>
            <a:r>
              <a:rPr lang="en-US" b="true" sz="1528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808" y="2689143"/>
            <a:ext cx="2056912" cy="36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1528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Global</a:t>
            </a:r>
            <a:r>
              <a:rPr lang="en-US" b="true" sz="1528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528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Disease</a:t>
            </a:r>
            <a:r>
              <a:rPr lang="en-US" b="true" sz="1528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528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Burden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5566" y="3083960"/>
            <a:ext cx="39282" cy="34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1222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0839" y="6115220"/>
            <a:ext cx="2441744" cy="130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b="true" sz="150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Diagnostic Delays</a:t>
            </a:r>
          </a:p>
          <a:p>
            <a:pPr algn="l">
              <a:lnSpc>
                <a:spcPts val="1942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Manual radiological review creates bottlenecks, delaying treatment initiation and patient care decisions.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10121" y="6058070"/>
            <a:ext cx="1400606" cy="32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50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CNN Overfitting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58939" y="6396799"/>
            <a:ext cx="38732" cy="29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9404" y="6143795"/>
            <a:ext cx="1521855" cy="47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b="true" sz="150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Hyperparameter 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40527" y="6587368"/>
            <a:ext cx="38732" cy="34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808" y="3188735"/>
            <a:ext cx="4110002" cy="23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222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Pneumonia remains a leading infectious cause of death in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808" y="3438941"/>
            <a:ext cx="4396014" cy="72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222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children and adults worldwide, with millions of cases annually. Early detection is critical for treatment efficacy and patient survival.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10121" y="6453949"/>
            <a:ext cx="2423301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Deep neural networks often overfit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10121" y="6700650"/>
            <a:ext cx="2500033" cy="70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to training data, reducing generalization and clinical reliability in real-world deployments.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9404" y="6692143"/>
            <a:ext cx="2334361" cy="23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Traditional optimization methods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9404" y="6938844"/>
            <a:ext cx="2331519" cy="97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20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fail to efficiently navigate high- dimensional parameter spaces inherent to modern deep learning architectures.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216572" y="2965247"/>
          <a:ext cx="6950125" cy="3619500"/>
        </p:xfrm>
        <a:graphic>
          <a:graphicData uri="http://schemas.openxmlformats.org/drawingml/2006/table">
            <a:tbl>
              <a:tblPr/>
              <a:tblGrid>
                <a:gridCol w="1682449"/>
                <a:gridCol w="1326195"/>
                <a:gridCol w="1140506"/>
                <a:gridCol w="1367693"/>
                <a:gridCol w="1433282"/>
              </a:tblGrid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D4D4D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Method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Speed(sec)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Accuracy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Robustness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D4D4D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Local Optima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Particle Swarm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24.04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Excellent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Moderate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Vulnerable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D4D4D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GA-PYGAD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24.55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Excellent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Very 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D4D4D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Avoids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D4D4D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GA-DEAP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23.84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Good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D4D4D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Avoids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Ant Colony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23.87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Excellent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D4D4D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Avoids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Bayesian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23.99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Good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 </a:t>
                      </a: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Moderate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Grey Wolf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23.38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Moderate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 </a:t>
                      </a: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Moderate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785508" y="2965247"/>
          <a:ext cx="1000571" cy="3853998"/>
        </p:xfrm>
        <a:graphic>
          <a:graphicData uri="http://schemas.openxmlformats.org/drawingml/2006/table">
            <a:tbl>
              <a:tblPr/>
              <a:tblGrid>
                <a:gridCol w="215372"/>
              </a:tblGrid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Excellent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Very 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0"/>
                        </a:lnSpc>
                        <a:defRPr/>
                      </a:pPr>
                      <a:r>
                        <a:rPr lang="en-US" sz="13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43920" y="2297749"/>
            <a:ext cx="6915150" cy="5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Optimization Methods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920" y="6693334"/>
            <a:ext cx="8060127" cy="65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1686">
                <a:solidFill>
                  <a:srgbClr val="F3F3F2"/>
                </a:solidFill>
                <a:latin typeface="Roboto"/>
                <a:ea typeface="Roboto"/>
                <a:cs typeface="Roboto"/>
                <a:sym typeface="Roboto"/>
              </a:rPr>
              <a:t>Genetic Algorithm selected f</a:t>
            </a:r>
            <a:r>
              <a:rPr lang="en-US" sz="1686">
                <a:solidFill>
                  <a:srgbClr val="F3F3F2"/>
                </a:solidFill>
                <a:latin typeface="Roboto"/>
                <a:ea typeface="Roboto"/>
                <a:cs typeface="Roboto"/>
                <a:sym typeface="Roboto"/>
              </a:rPr>
              <a:t>or superior balance of convergence, robustness, and escape from local optima in high-dimensional CNN parameter spaces.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50897"/>
            <a:ext cx="11556997" cy="7842247"/>
          </a:xfrm>
          <a:custGeom>
            <a:avLst/>
            <a:gdLst/>
            <a:ahLst/>
            <a:cxnLst/>
            <a:rect r="r" b="b" t="t" l="l"/>
            <a:pathLst>
              <a:path h="7842247" w="11556997">
                <a:moveTo>
                  <a:pt x="0" y="0"/>
                </a:moveTo>
                <a:lnTo>
                  <a:pt x="11556997" y="0"/>
                </a:lnTo>
                <a:lnTo>
                  <a:pt x="11556997" y="7842247"/>
                </a:lnTo>
                <a:lnTo>
                  <a:pt x="0" y="7842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0075" y="1388716"/>
            <a:ext cx="4600623" cy="52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Proposed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10973" y="2346274"/>
            <a:ext cx="53273" cy="49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6"/>
              </a:lnSpc>
            </a:pP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0818" y="2508199"/>
            <a:ext cx="1398032" cy="32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Input</a:t>
            </a:r>
            <a:r>
              <a:rPr lang="en-US" b="true" sz="1742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27589" y="2845318"/>
            <a:ext cx="44787" cy="29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1210" y="5852551"/>
            <a:ext cx="1688573" cy="86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GA Optimization</a:t>
            </a:r>
          </a:p>
          <a:p>
            <a:pPr algn="ctr">
              <a:lnSpc>
                <a:spcPts val="246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Selection, crossover,</a:t>
            </a:r>
          </a:p>
          <a:p>
            <a:pPr algn="ctr">
              <a:lnSpc>
                <a:spcPts val="170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mutation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4543" y="2360647"/>
            <a:ext cx="1413615" cy="32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VGG16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1901" y="2697766"/>
            <a:ext cx="44787" cy="29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7875" y="5852551"/>
            <a:ext cx="1775022" cy="32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1742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Detection Output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4384" y="6189669"/>
            <a:ext cx="44787" cy="29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1665" y="2892943"/>
            <a:ext cx="1559090" cy="24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Chest</a:t>
            </a:r>
            <a:r>
              <a:rPr lang="en-US" sz="139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X-ray</a:t>
            </a:r>
            <a:r>
              <a:rPr lang="en-US" sz="139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0" y="2764441"/>
            <a:ext cx="1766508" cy="66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Choosing Best Parent and Looping until weight finalization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75696" y="6256344"/>
            <a:ext cx="1738598" cy="23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Classified</a:t>
            </a:r>
            <a:r>
              <a:rPr lang="en-US" sz="139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pneumonia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06908" y="6472742"/>
            <a:ext cx="450875" cy="23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3"/>
              </a:lnSpc>
            </a:pP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7034936"/>
            <a:ext cx="10207762" cy="78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GA-Optimized VGG16 Technique: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Genetic algorithms optimize the weights of the model across many evolutionary generations. Each population candidate represents a distinct weight configuration evaluated against validation accuracy. Selection preserves elite performers, crossover generates offspring configurations, and mutation introduces exploration within the parameter space.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143750" y="914400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39783" y="5844135"/>
            <a:ext cx="1688573" cy="8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b="true" sz="1394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Cloning</a:t>
            </a:r>
            <a:r>
              <a:rPr lang="en-US" b="true" sz="1394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 mod</a:t>
            </a:r>
            <a:r>
              <a:rPr lang="en-US" b="true" sz="1394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el</a:t>
            </a:r>
            <a:r>
              <a:rPr lang="en-US" sz="139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architecture and fitting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96308" y="6168772"/>
            <a:ext cx="86469" cy="23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3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00075" y="2565197"/>
            <a:ext cx="5943600" cy="19050"/>
            <a:chOff x="0" y="0"/>
            <a:chExt cx="5943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19050"/>
                  </a:moveTo>
                  <a:lnTo>
                    <a:pt x="5943600" y="19050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00075" y="4184447"/>
            <a:ext cx="5943600" cy="19050"/>
            <a:chOff x="0" y="0"/>
            <a:chExt cx="59436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19050"/>
                  </a:moveTo>
                  <a:lnTo>
                    <a:pt x="5943600" y="19050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00075" y="5794172"/>
            <a:ext cx="5943600" cy="19050"/>
            <a:chOff x="0" y="0"/>
            <a:chExt cx="5943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19050"/>
                  </a:moveTo>
                  <a:lnTo>
                    <a:pt x="5943600" y="19050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00075" y="7413422"/>
            <a:ext cx="5943600" cy="19050"/>
            <a:chOff x="0" y="0"/>
            <a:chExt cx="5943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19050"/>
                  </a:moveTo>
                  <a:lnTo>
                    <a:pt x="5943600" y="19050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143750" y="488747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29"/>
                </a:lnTo>
                <a:lnTo>
                  <a:pt x="0" y="809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43750" y="1297776"/>
            <a:ext cx="6820630" cy="7763470"/>
          </a:xfrm>
          <a:custGeom>
            <a:avLst/>
            <a:gdLst/>
            <a:ahLst/>
            <a:cxnLst/>
            <a:rect r="r" b="b" t="t" l="l"/>
            <a:pathLst>
              <a:path h="7763470" w="6820630">
                <a:moveTo>
                  <a:pt x="0" y="0"/>
                </a:moveTo>
                <a:lnTo>
                  <a:pt x="6820630" y="0"/>
                </a:lnTo>
                <a:lnTo>
                  <a:pt x="6820630" y="7763471"/>
                </a:lnTo>
                <a:lnTo>
                  <a:pt x="0" y="7763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925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2959" y="1043635"/>
            <a:ext cx="5034401" cy="1984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Dataset &amp; Preprocessing Pipeline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</a:p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</a:t>
            </a:r>
            <a:r>
              <a:rPr lang="en-US" b="true" sz="168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Source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132" y="2559472"/>
            <a:ext cx="51587" cy="38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5739" y="3912727"/>
            <a:ext cx="1433541" cy="70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Augmentation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2959" y="5531977"/>
            <a:ext cx="1426321" cy="69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Normalization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2959" y="7147189"/>
            <a:ext cx="1372324" cy="70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4D4D1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</a:p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Split Strategy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087" y="2970733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3075" y="7818958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835" y="6199708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74596" y="4589983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075" y="4656658"/>
            <a:ext cx="5540521" cy="26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Random rotation(±10°), horizontal flip, brightness/contrast adjustment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0075" y="4923358"/>
            <a:ext cx="4962573" cy="52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(±20%) and cropping to increase effective dataset size and model robustness.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075" y="6266383"/>
            <a:ext cx="5685339" cy="25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Pixel values scaled to [0,1] range; ImageNet statistics applied for transfer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0075" y="6542608"/>
            <a:ext cx="4206564" cy="26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learning compatibility with pre-trained VGG16 weights.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0075" y="3037408"/>
            <a:ext cx="5884050" cy="52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Kaggle ChestX-ray Dataset: 5,857 images (4273 pneumonia-positive, 1584 normal)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0075" y="7885633"/>
            <a:ext cx="5921550" cy="26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Training(70%),validation (15%), test (15%) stratified split ensuring balanced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0075" y="8161858"/>
            <a:ext cx="3075984" cy="26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class representation across all subsets.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075" y="1096413"/>
            <a:ext cx="4274915" cy="44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Experimental Results</a:t>
            </a:r>
          </a:p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Accuracy Comparison Across Optimization Methods: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37255" y="390761"/>
            <a:ext cx="13709732" cy="990821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47866" y="8213522"/>
            <a:ext cx="8182134" cy="93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b="true" sz="1585">
                <a:solidFill>
                  <a:srgbClr val="FFBC8F"/>
                </a:solidFill>
                <a:latin typeface="Roboto Bold"/>
                <a:ea typeface="Roboto Bold"/>
                <a:cs typeface="Roboto Bold"/>
                <a:sym typeface="Roboto Bold"/>
              </a:rPr>
              <a:t>Key Finding:</a:t>
            </a:r>
            <a:r>
              <a:rPr lang="en-US" sz="158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GA-optimized VGG16 achieved </a:t>
            </a:r>
            <a:r>
              <a:rPr lang="en-US" b="true" sz="1585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96.57% accuracy</a:t>
            </a:r>
            <a:r>
              <a:rPr lang="en-US" sz="158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with superior generalization metrics (specificity 97.3%, sensitivity 95.8%), outperforming unoptimized baselines and demonstrating significant overfitting reduction on test data.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43750" y="393497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29"/>
                </a:lnTo>
                <a:lnTo>
                  <a:pt x="0" y="80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962" y="2404290"/>
            <a:ext cx="10820075" cy="4741414"/>
            <a:chOff x="0" y="0"/>
            <a:chExt cx="14426767" cy="63218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426767" cy="6321886"/>
              <a:chOff x="0" y="0"/>
              <a:chExt cx="4552610" cy="199497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52610" cy="1994978"/>
              </a:xfrm>
              <a:custGeom>
                <a:avLst/>
                <a:gdLst/>
                <a:ahLst/>
                <a:cxnLst/>
                <a:rect r="r" b="b" t="t" l="l"/>
                <a:pathLst>
                  <a:path h="1994978" w="4552610">
                    <a:moveTo>
                      <a:pt x="22896" y="0"/>
                    </a:moveTo>
                    <a:lnTo>
                      <a:pt x="4529714" y="0"/>
                    </a:lnTo>
                    <a:cubicBezTo>
                      <a:pt x="4542359" y="0"/>
                      <a:pt x="4552610" y="10251"/>
                      <a:pt x="4552610" y="22896"/>
                    </a:cubicBezTo>
                    <a:lnTo>
                      <a:pt x="4552610" y="1972082"/>
                    </a:lnTo>
                    <a:cubicBezTo>
                      <a:pt x="4552610" y="1984727"/>
                      <a:pt x="4542359" y="1994978"/>
                      <a:pt x="4529714" y="1994978"/>
                    </a:cubicBezTo>
                    <a:lnTo>
                      <a:pt x="22896" y="1994978"/>
                    </a:lnTo>
                    <a:cubicBezTo>
                      <a:pt x="10251" y="1994978"/>
                      <a:pt x="0" y="1984727"/>
                      <a:pt x="0" y="1972082"/>
                    </a:cubicBezTo>
                    <a:lnTo>
                      <a:pt x="0" y="22896"/>
                    </a:lnTo>
                    <a:cubicBezTo>
                      <a:pt x="0" y="10251"/>
                      <a:pt x="10251" y="0"/>
                      <a:pt x="22896" y="0"/>
                    </a:cubicBezTo>
                    <a:close/>
                  </a:path>
                </a:pathLst>
              </a:custGeom>
              <a:solidFill>
                <a:srgbClr val="14161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23825"/>
                <a:ext cx="4552610" cy="21188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51944" y="474044"/>
              <a:ext cx="13522879" cy="5373798"/>
            </a:xfrm>
            <a:custGeom>
              <a:avLst/>
              <a:gdLst/>
              <a:ahLst/>
              <a:cxnLst/>
              <a:rect r="r" b="b" t="t" l="l"/>
              <a:pathLst>
                <a:path h="5373798" w="13522879">
                  <a:moveTo>
                    <a:pt x="0" y="0"/>
                  </a:moveTo>
                  <a:lnTo>
                    <a:pt x="13522879" y="0"/>
                  </a:lnTo>
                  <a:lnTo>
                    <a:pt x="13522879" y="5373798"/>
                  </a:lnTo>
                  <a:lnTo>
                    <a:pt x="0" y="5373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38175" y="4365269"/>
            <a:ext cx="57150" cy="57150"/>
            <a:chOff x="0" y="0"/>
            <a:chExt cx="5715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38175" y="5251094"/>
            <a:ext cx="57150" cy="57150"/>
            <a:chOff x="0" y="0"/>
            <a:chExt cx="5715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38175" y="6127394"/>
            <a:ext cx="57150" cy="5715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38175" y="7013219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3829050" y="4365269"/>
            <a:ext cx="57150" cy="5715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829050" y="5251094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829050" y="6127394"/>
            <a:ext cx="57150" cy="5715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829050" y="6736994"/>
            <a:ext cx="57150" cy="57150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4D4D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0075" y="2029711"/>
            <a:ext cx="4871352" cy="106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Analysis &amp; Clinical Insights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4194" y="3330845"/>
            <a:ext cx="51587" cy="47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3540395"/>
            <a:ext cx="1570634" cy="26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Strengths</a:t>
            </a:r>
            <a:r>
              <a:rPr lang="en-US" b="true" sz="168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of</a:t>
            </a:r>
            <a:r>
              <a:rPr lang="en-US" b="true" sz="168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075" y="3807095"/>
            <a:ext cx="1285151" cy="26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8621" y="4113581"/>
            <a:ext cx="43367" cy="37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90502" y="3540395"/>
            <a:ext cx="2083032" cy="50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Practical Healthcare Implications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4214" y="4227881"/>
            <a:ext cx="2477033" cy="314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Effective escape from local optima through population- based search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Robust parameter </a:t>
            </a:r>
          </a:p>
          <a:p>
            <a:pPr algn="l">
              <a:lnSpc>
                <a:spcPts val="8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configuration transferable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across datasets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Reduced overfitting: 3.36% </a:t>
            </a:r>
          </a:p>
          <a:p>
            <a:pPr algn="l">
              <a:lnSpc>
                <a:spcPts val="24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improvement over unoptimized 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VGG16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Balanced sensitivity-specificity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trade-off for clinical deployment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64651" y="4227881"/>
            <a:ext cx="2548147" cy="308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Near-radiologist-level performance enabling decision support systems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Reduced false positives </a:t>
            </a:r>
          </a:p>
          <a:p>
            <a:pPr algn="l">
              <a:lnSpc>
                <a:spcPts val="8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minimize unnecessary antibiotic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prescriptions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Enables rapid classification in resource-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limited settings</a:t>
            </a:r>
          </a:p>
          <a:p>
            <a:pPr algn="l">
              <a:lnSpc>
                <a:spcPts val="27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Foundation for real-time </a:t>
            </a:r>
          </a:p>
          <a:p>
            <a:pPr algn="l">
              <a:lnSpc>
                <a:spcPts val="15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diagnostic assistants in clinical </a:t>
            </a:r>
          </a:p>
          <a:p>
            <a:pPr algn="l">
              <a:lnSpc>
                <a:spcPts val="27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workflows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723233" y="1555394"/>
            <a:ext cx="4706767" cy="6439205"/>
          </a:xfrm>
          <a:custGeom>
            <a:avLst/>
            <a:gdLst/>
            <a:ahLst/>
            <a:cxnLst/>
            <a:rect r="r" b="b" t="t" l="l"/>
            <a:pathLst>
              <a:path h="6439205" w="4706767">
                <a:moveTo>
                  <a:pt x="0" y="0"/>
                </a:moveTo>
                <a:lnTo>
                  <a:pt x="4706767" y="0"/>
                </a:lnTo>
                <a:lnTo>
                  <a:pt x="4706767" y="6439205"/>
                </a:lnTo>
                <a:lnTo>
                  <a:pt x="0" y="6439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090" t="0" r="-61249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1911" y="3403244"/>
            <a:ext cx="3084239" cy="2524394"/>
            <a:chOff x="0" y="0"/>
            <a:chExt cx="2886075" cy="236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6075" cy="2362200"/>
            </a:xfrm>
            <a:custGeom>
              <a:avLst/>
              <a:gdLst/>
              <a:ahLst/>
              <a:cxnLst/>
              <a:rect r="r" b="b" t="t" l="l"/>
              <a:pathLst>
                <a:path h="2362200" w="2886075">
                  <a:moveTo>
                    <a:pt x="0" y="23622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2886075" y="0"/>
                  </a:lnTo>
                  <a:lnTo>
                    <a:pt x="2886075" y="2019300"/>
                  </a:lnTo>
                  <a:cubicBezTo>
                    <a:pt x="2886075" y="2030476"/>
                    <a:pt x="2885567" y="2041779"/>
                    <a:pt x="2884424" y="2052955"/>
                  </a:cubicBezTo>
                  <a:cubicBezTo>
                    <a:pt x="2883281" y="2064131"/>
                    <a:pt x="2881630" y="2075180"/>
                    <a:pt x="2879471" y="2086229"/>
                  </a:cubicBezTo>
                  <a:cubicBezTo>
                    <a:pt x="2877312" y="2097278"/>
                    <a:pt x="2874518" y="2108073"/>
                    <a:pt x="2871343" y="2118868"/>
                  </a:cubicBezTo>
                  <a:cubicBezTo>
                    <a:pt x="2868168" y="2129663"/>
                    <a:pt x="2864358" y="2140204"/>
                    <a:pt x="2860040" y="2150491"/>
                  </a:cubicBezTo>
                  <a:cubicBezTo>
                    <a:pt x="2855722" y="2160778"/>
                    <a:pt x="2850896" y="2171065"/>
                    <a:pt x="2845689" y="2180971"/>
                  </a:cubicBezTo>
                  <a:cubicBezTo>
                    <a:pt x="2840482" y="2190877"/>
                    <a:pt x="2834640" y="2200529"/>
                    <a:pt x="2828417" y="2209800"/>
                  </a:cubicBezTo>
                  <a:cubicBezTo>
                    <a:pt x="2822194" y="2219071"/>
                    <a:pt x="2815463" y="2228088"/>
                    <a:pt x="2808351" y="2236851"/>
                  </a:cubicBezTo>
                  <a:cubicBezTo>
                    <a:pt x="2801239" y="2245614"/>
                    <a:pt x="2793746" y="2253869"/>
                    <a:pt x="2785745" y="2261743"/>
                  </a:cubicBezTo>
                  <a:cubicBezTo>
                    <a:pt x="2777744" y="2269617"/>
                    <a:pt x="2769489" y="2277237"/>
                    <a:pt x="2760853" y="2284349"/>
                  </a:cubicBezTo>
                  <a:cubicBezTo>
                    <a:pt x="2752217" y="2291461"/>
                    <a:pt x="2743200" y="2298192"/>
                    <a:pt x="2733802" y="2304415"/>
                  </a:cubicBezTo>
                  <a:cubicBezTo>
                    <a:pt x="2724404" y="2310638"/>
                    <a:pt x="2714879" y="2316353"/>
                    <a:pt x="2704973" y="2321687"/>
                  </a:cubicBezTo>
                  <a:cubicBezTo>
                    <a:pt x="2695067" y="2327021"/>
                    <a:pt x="2684907" y="2331720"/>
                    <a:pt x="2674493" y="2336038"/>
                  </a:cubicBezTo>
                  <a:cubicBezTo>
                    <a:pt x="2664079" y="2340356"/>
                    <a:pt x="2653538" y="2344166"/>
                    <a:pt x="2642870" y="2347341"/>
                  </a:cubicBezTo>
                  <a:cubicBezTo>
                    <a:pt x="2632202" y="2350516"/>
                    <a:pt x="2621280" y="2353310"/>
                    <a:pt x="2610231" y="2355469"/>
                  </a:cubicBezTo>
                  <a:cubicBezTo>
                    <a:pt x="2599181" y="2357628"/>
                    <a:pt x="2588133" y="2359279"/>
                    <a:pt x="2576957" y="2360422"/>
                  </a:cubicBezTo>
                  <a:cubicBezTo>
                    <a:pt x="2565781" y="2361565"/>
                    <a:pt x="2554605" y="2362073"/>
                    <a:pt x="2543302" y="2362073"/>
                  </a:cubicBezTo>
                  <a:lnTo>
                    <a:pt x="0" y="2362073"/>
                  </a:lnTo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18138" y="6080038"/>
            <a:ext cx="6223701" cy="1605795"/>
            <a:chOff x="0" y="0"/>
            <a:chExt cx="5943600" cy="15335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43600" cy="1533525"/>
            </a:xfrm>
            <a:custGeom>
              <a:avLst/>
              <a:gdLst/>
              <a:ahLst/>
              <a:cxnLst/>
              <a:rect r="r" b="b" t="t" l="l"/>
              <a:pathLst>
                <a:path h="1533525" w="5943600">
                  <a:moveTo>
                    <a:pt x="0" y="153352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5943600" y="0"/>
                  </a:lnTo>
                  <a:lnTo>
                    <a:pt x="5943600" y="1190625"/>
                  </a:lnTo>
                  <a:cubicBezTo>
                    <a:pt x="5943600" y="1201801"/>
                    <a:pt x="5943092" y="1213104"/>
                    <a:pt x="5941949" y="1224280"/>
                  </a:cubicBezTo>
                  <a:cubicBezTo>
                    <a:pt x="5940806" y="1235456"/>
                    <a:pt x="5939155" y="1246505"/>
                    <a:pt x="5936996" y="1257554"/>
                  </a:cubicBezTo>
                  <a:cubicBezTo>
                    <a:pt x="5934837" y="1268603"/>
                    <a:pt x="5932043" y="1279398"/>
                    <a:pt x="5928868" y="1290193"/>
                  </a:cubicBezTo>
                  <a:cubicBezTo>
                    <a:pt x="5925693" y="1300988"/>
                    <a:pt x="5921883" y="1311529"/>
                    <a:pt x="5917564" y="1321816"/>
                  </a:cubicBezTo>
                  <a:cubicBezTo>
                    <a:pt x="5913246" y="1332103"/>
                    <a:pt x="5908420" y="1342390"/>
                    <a:pt x="5903213" y="1352169"/>
                  </a:cubicBezTo>
                  <a:cubicBezTo>
                    <a:pt x="5898006" y="1361948"/>
                    <a:pt x="5892164" y="1371727"/>
                    <a:pt x="5885942" y="1380998"/>
                  </a:cubicBezTo>
                  <a:cubicBezTo>
                    <a:pt x="5879719" y="1390269"/>
                    <a:pt x="5872988" y="1399286"/>
                    <a:pt x="5865876" y="1408049"/>
                  </a:cubicBezTo>
                  <a:cubicBezTo>
                    <a:pt x="5858764" y="1416812"/>
                    <a:pt x="5851271" y="1425067"/>
                    <a:pt x="5843270" y="1432941"/>
                  </a:cubicBezTo>
                  <a:cubicBezTo>
                    <a:pt x="5835269" y="1440815"/>
                    <a:pt x="5827014" y="1448435"/>
                    <a:pt x="5818378" y="1455547"/>
                  </a:cubicBezTo>
                  <a:cubicBezTo>
                    <a:pt x="5809742" y="1462659"/>
                    <a:pt x="5800725" y="1469390"/>
                    <a:pt x="5791327" y="1475613"/>
                  </a:cubicBezTo>
                  <a:cubicBezTo>
                    <a:pt x="5781929" y="1481836"/>
                    <a:pt x="5772404" y="1487678"/>
                    <a:pt x="5762498" y="1492885"/>
                  </a:cubicBezTo>
                  <a:cubicBezTo>
                    <a:pt x="5752592" y="1498092"/>
                    <a:pt x="5742432" y="1502918"/>
                    <a:pt x="5732018" y="1507236"/>
                  </a:cubicBezTo>
                  <a:cubicBezTo>
                    <a:pt x="5721604" y="1511554"/>
                    <a:pt x="5711063" y="1515364"/>
                    <a:pt x="5700395" y="1518539"/>
                  </a:cubicBezTo>
                  <a:cubicBezTo>
                    <a:pt x="5689727" y="1521714"/>
                    <a:pt x="5678805" y="1524508"/>
                    <a:pt x="5667756" y="1526667"/>
                  </a:cubicBezTo>
                  <a:cubicBezTo>
                    <a:pt x="5656707" y="1528826"/>
                    <a:pt x="5645658" y="1530477"/>
                    <a:pt x="5634482" y="1531620"/>
                  </a:cubicBezTo>
                  <a:cubicBezTo>
                    <a:pt x="5623306" y="1532763"/>
                    <a:pt x="5612130" y="1533271"/>
                    <a:pt x="5600827" y="1533271"/>
                  </a:cubicBezTo>
                  <a:lnTo>
                    <a:pt x="0" y="1533271"/>
                  </a:lnTo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657600" y="3403244"/>
            <a:ext cx="3084239" cy="2524394"/>
            <a:chOff x="0" y="0"/>
            <a:chExt cx="2886075" cy="2362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6075" cy="2362200"/>
            </a:xfrm>
            <a:custGeom>
              <a:avLst/>
              <a:gdLst/>
              <a:ahLst/>
              <a:cxnLst/>
              <a:rect r="r" b="b" t="t" l="l"/>
              <a:pathLst>
                <a:path h="2362200" w="2886075">
                  <a:moveTo>
                    <a:pt x="0" y="23622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2886075" y="0"/>
                  </a:lnTo>
                  <a:lnTo>
                    <a:pt x="2886075" y="2019300"/>
                  </a:lnTo>
                  <a:cubicBezTo>
                    <a:pt x="2886075" y="2030476"/>
                    <a:pt x="2885567" y="2041779"/>
                    <a:pt x="2884424" y="2052955"/>
                  </a:cubicBezTo>
                  <a:cubicBezTo>
                    <a:pt x="2883281" y="2064131"/>
                    <a:pt x="2881630" y="2075180"/>
                    <a:pt x="2879471" y="2086229"/>
                  </a:cubicBezTo>
                  <a:cubicBezTo>
                    <a:pt x="2877312" y="2097278"/>
                    <a:pt x="2874518" y="2108073"/>
                    <a:pt x="2871343" y="2118868"/>
                  </a:cubicBezTo>
                  <a:cubicBezTo>
                    <a:pt x="2868168" y="2129663"/>
                    <a:pt x="2864358" y="2140204"/>
                    <a:pt x="2860040" y="2150491"/>
                  </a:cubicBezTo>
                  <a:cubicBezTo>
                    <a:pt x="2855722" y="2160778"/>
                    <a:pt x="2850896" y="2171065"/>
                    <a:pt x="2845689" y="2180971"/>
                  </a:cubicBezTo>
                  <a:cubicBezTo>
                    <a:pt x="2840482" y="2190877"/>
                    <a:pt x="2834640" y="2200529"/>
                    <a:pt x="2828417" y="2209800"/>
                  </a:cubicBezTo>
                  <a:cubicBezTo>
                    <a:pt x="2822194" y="2219071"/>
                    <a:pt x="2815463" y="2228088"/>
                    <a:pt x="2808351" y="2236851"/>
                  </a:cubicBezTo>
                  <a:cubicBezTo>
                    <a:pt x="2801239" y="2245614"/>
                    <a:pt x="2793746" y="2253869"/>
                    <a:pt x="2785745" y="2261743"/>
                  </a:cubicBezTo>
                  <a:cubicBezTo>
                    <a:pt x="2777744" y="2269617"/>
                    <a:pt x="2769489" y="2277237"/>
                    <a:pt x="2760853" y="2284349"/>
                  </a:cubicBezTo>
                  <a:cubicBezTo>
                    <a:pt x="2752217" y="2291461"/>
                    <a:pt x="2743200" y="2298192"/>
                    <a:pt x="2733802" y="2304415"/>
                  </a:cubicBezTo>
                  <a:cubicBezTo>
                    <a:pt x="2724404" y="2310638"/>
                    <a:pt x="2714879" y="2316353"/>
                    <a:pt x="2704973" y="2321687"/>
                  </a:cubicBezTo>
                  <a:cubicBezTo>
                    <a:pt x="2695067" y="2327021"/>
                    <a:pt x="2684907" y="2331720"/>
                    <a:pt x="2674493" y="2336038"/>
                  </a:cubicBezTo>
                  <a:cubicBezTo>
                    <a:pt x="2664079" y="2340356"/>
                    <a:pt x="2653538" y="2344166"/>
                    <a:pt x="2642870" y="2347341"/>
                  </a:cubicBezTo>
                  <a:cubicBezTo>
                    <a:pt x="2632202" y="2350516"/>
                    <a:pt x="2621280" y="2353310"/>
                    <a:pt x="2610231" y="2355469"/>
                  </a:cubicBezTo>
                  <a:cubicBezTo>
                    <a:pt x="2599181" y="2357628"/>
                    <a:pt x="2588133" y="2359279"/>
                    <a:pt x="2576957" y="2360422"/>
                  </a:cubicBezTo>
                  <a:cubicBezTo>
                    <a:pt x="2565781" y="2361565"/>
                    <a:pt x="2554605" y="2362073"/>
                    <a:pt x="2543302" y="2362073"/>
                  </a:cubicBezTo>
                  <a:lnTo>
                    <a:pt x="0" y="2362073"/>
                  </a:lnTo>
                </a:path>
              </a:pathLst>
            </a:custGeom>
            <a:solidFill>
              <a:srgbClr val="484B5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41889" y="2364424"/>
            <a:ext cx="4288111" cy="5630175"/>
          </a:xfrm>
          <a:custGeom>
            <a:avLst/>
            <a:gdLst/>
            <a:ahLst/>
            <a:cxnLst/>
            <a:rect r="r" b="b" t="t" l="l"/>
            <a:pathLst>
              <a:path h="5630175" w="4288111">
                <a:moveTo>
                  <a:pt x="0" y="0"/>
                </a:moveTo>
                <a:lnTo>
                  <a:pt x="4288111" y="0"/>
                </a:lnTo>
                <a:lnTo>
                  <a:pt x="4288111" y="5630175"/>
                </a:lnTo>
                <a:lnTo>
                  <a:pt x="0" y="5630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401" t="0" r="-1166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0075" y="2067811"/>
            <a:ext cx="4139508" cy="106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Conclusion &amp; Future Directions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5428" y="3359420"/>
            <a:ext cx="51587" cy="47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525" y="3473720"/>
            <a:ext cx="1271807" cy="35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Key</a:t>
            </a:r>
            <a:r>
              <a:rPr lang="en-US" b="true" sz="168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055" y="3856406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25" y="6197870"/>
            <a:ext cx="2297049" cy="35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Real-World Translation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5412" y="6580556"/>
            <a:ext cx="43367" cy="3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89440" y="3458023"/>
            <a:ext cx="2654235" cy="240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Hybrid</a:t>
            </a:r>
            <a:r>
              <a:rPr lang="en-US" b="true" sz="168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-US" b="true" sz="1687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Approaches</a:t>
            </a:r>
          </a:p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Future work will investigate ensemble methods combining GA with PSO, reinforcement learning for further accuracy gains, using up to date methods like Cross-validation for harsher testing and increasing compute to stress test overfitting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1525" y="3923081"/>
            <a:ext cx="2633615" cy="159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Genetic Algorithm optimization significantly improves CNN generalization for pneumonia detection, with strong clinical metrics and practical deployment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readiness.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1525" y="6647231"/>
            <a:ext cx="5620369" cy="26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Integration intohospital PACS systems and mobile diagnostic platforms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1525" y="6923456"/>
            <a:ext cx="5451872" cy="52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for rapid deployment in clinical and remote settings, validated through prospective studies.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073478" y="5784494"/>
            <a:ext cx="2996803" cy="9525"/>
            <a:chOff x="0" y="0"/>
            <a:chExt cx="2996806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4076" cy="9525"/>
            </a:xfrm>
            <a:custGeom>
              <a:avLst/>
              <a:gdLst/>
              <a:ahLst/>
              <a:cxnLst/>
              <a:rect r="r" b="b" t="t" l="l"/>
              <a:pathLst>
                <a:path h="9525" w="2894076">
                  <a:moveTo>
                    <a:pt x="0" y="0"/>
                  </a:moveTo>
                  <a:lnTo>
                    <a:pt x="0" y="9525"/>
                  </a:lnTo>
                  <a:lnTo>
                    <a:pt x="1186307" y="9525"/>
                  </a:lnTo>
                  <a:lnTo>
                    <a:pt x="1186307" y="0"/>
                  </a:lnTo>
                  <a:close/>
                  <a:moveTo>
                    <a:pt x="1304671" y="0"/>
                  </a:moveTo>
                  <a:lnTo>
                    <a:pt x="1304671" y="9525"/>
                  </a:lnTo>
                  <a:lnTo>
                    <a:pt x="2894076" y="9525"/>
                  </a:lnTo>
                  <a:lnTo>
                    <a:pt x="2894076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43750" y="1555394"/>
            <a:ext cx="4286250" cy="809030"/>
          </a:xfrm>
          <a:custGeom>
            <a:avLst/>
            <a:gdLst/>
            <a:ahLst/>
            <a:cxnLst/>
            <a:rect r="r" b="b" t="t" l="l"/>
            <a:pathLst>
              <a:path h="809030" w="4286250">
                <a:moveTo>
                  <a:pt x="0" y="0"/>
                </a:moveTo>
                <a:lnTo>
                  <a:pt x="4286250" y="0"/>
                </a:lnTo>
                <a:lnTo>
                  <a:pt x="4286250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43750" y="2364424"/>
            <a:ext cx="7824794" cy="5630175"/>
          </a:xfrm>
          <a:custGeom>
            <a:avLst/>
            <a:gdLst/>
            <a:ahLst/>
            <a:cxnLst/>
            <a:rect r="r" b="b" t="t" l="l"/>
            <a:pathLst>
              <a:path h="5630175" w="7824794">
                <a:moveTo>
                  <a:pt x="0" y="0"/>
                </a:moveTo>
                <a:lnTo>
                  <a:pt x="7824794" y="0"/>
                </a:lnTo>
                <a:lnTo>
                  <a:pt x="7824794" y="5630175"/>
                </a:lnTo>
                <a:lnTo>
                  <a:pt x="0" y="5630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94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0075" y="3096511"/>
            <a:ext cx="5788057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Acknowledgments &amp; Contact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0694" y="3523031"/>
            <a:ext cx="43548" cy="37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045" y="3637331"/>
            <a:ext cx="5925903" cy="168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2025 International Conference on Future Telecommunications and Artificial Intelligence </a:t>
            </a: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Alexandria, Egypt</a:t>
            </a:r>
          </a:p>
          <a:p>
            <a:pPr algn="ctr">
              <a:lnSpc>
                <a:spcPts val="3375"/>
              </a:lnSpc>
            </a:pPr>
            <a:r>
              <a:rPr lang="en-US" b="true" sz="1350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Corresponding Author:</a:t>
            </a:r>
          </a:p>
          <a:p>
            <a:pPr algn="ctr">
              <a:lnSpc>
                <a:spcPts val="9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Ahmed M. Moussa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New Mansoura University</a:t>
            </a:r>
          </a:p>
          <a:p>
            <a:pPr algn="ctr">
              <a:lnSpc>
                <a:spcPts val="974"/>
              </a:lnSpc>
            </a:pPr>
            <a:r>
              <a:rPr lang="en-US" b="true" sz="1350">
                <a:solidFill>
                  <a:srgbClr val="FFBC8F"/>
                </a:solidFill>
                <a:latin typeface="Roboto Bold"/>
                <a:ea typeface="Roboto Bold"/>
                <a:cs typeface="Roboto Bold"/>
                <a:sym typeface="Roboto Bold"/>
                <a:hlinkClick r:id="rId4" tooltip="mailto:ahmed.moussa@newmansoura.edu.eg"/>
              </a:rPr>
              <a:t>ahmedmoussa.dev@</a:t>
            </a:r>
            <a:r>
              <a:rPr lang="en-US" b="true" sz="1350">
                <a:solidFill>
                  <a:srgbClr val="FFBC8F"/>
                </a:solidFill>
                <a:latin typeface="Roboto Bold"/>
                <a:ea typeface="Roboto Bold"/>
                <a:cs typeface="Roboto Bold"/>
                <a:sym typeface="Roboto Bold"/>
              </a:rPr>
              <a:t>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6321" y="5990006"/>
            <a:ext cx="5664546" cy="37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We acknowledge the support of our institutions and the medical imaging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6595" y="6494831"/>
            <a:ext cx="4110352" cy="14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community for dataset sharing and clinical guidance.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DAG33dQVLHU</dc:identifier>
  <dcterms:modified xsi:type="dcterms:W3CDTF">2011-08-01T06:04:30Z</dcterms:modified>
  <cp:revision>1</cp:revision>
  <dc:title>Pneumonia-Detection-Using-Optimized-Deep-Learning-Technique.pdf</dc:title>
</cp:coreProperties>
</file>